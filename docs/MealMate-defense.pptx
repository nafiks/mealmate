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Рецептов</c:v>
                </c:pt>
              </c:strCache>
            </c:strRef>
          </c:tx>
          <c:spPr>
            <a:solidFill>
              <a:srgbClr val="1B3B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B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3B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6A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6A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6A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C6A4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Казахская</c:v>
                  </c:pt>
                  <c:pt idx="1">
                    <c:v>Европейская</c:v>
                  </c:pt>
                  <c:pt idx="2">
                    <c:v>Русская</c:v>
                  </c:pt>
                  <c:pt idx="3">
                    <c:v>Азиатская</c:v>
                  </c:pt>
                  <c:pt idx="4">
                    <c:v>Мексиканская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21</c:v>
                </c:pt>
                <c:pt idx="2">
                  <c:v>13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82B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556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</c:scaling>
        <c:delete val="0"/>
        <c:axPos val="l"/>
        <c:majorGridlines>
          <c:spPr>
            <a:ln w="6350" cap="flat">
              <a:solidFill>
                <a:srgbClr val="E3DA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E89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6F1E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85432" y="0"/>
            <a:ext cx="5303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85432" y="0"/>
            <a:ext cx="5303520" cy="6858000"/>
          </a:xfrm>
          <a:prstGeom prst="rect">
            <a:avLst/>
          </a:prstGeom>
          <a:solidFill>
            <a:srgbClr val="0D1F15">
              <a:alpha val="3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🍳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12064" y="196596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Meal</a:t>
            </a:r>
            <a:pPr indent="0" marL="0">
              <a:buNone/>
            </a:pPr>
            <a:r>
              <a:rPr lang="en-US" sz="6600" b="1" i="1" dirty="0">
                <a:solidFill>
                  <a:srgbClr val="C9E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</a:t>
            </a:r>
            <a:pPr indent="0" marL="0">
              <a:buNone/>
            </a:pPr>
            <a:r>
              <a:rPr lang="en-US" sz="6600" b="1" dirty="0">
                <a:solidFill>
                  <a:srgbClr val="C9E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548640" y="338328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9EF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a recipe from what you already have at home.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CS-2618 · ICT · Project defense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Samarin · Kaniyazov · Sadybek · Temirtas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ЗАЧЕМ МЫ ЭТО СДЕЛАЛИ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Одна продуктовая корзина — два честных списка.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4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ПРОБЛЕМА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Студенты живут отдельно и не решают, что готовить из того, что есть.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Продукты выбрасываются: ~76 кг на человека в год в Казахстане (UNEP, 2021).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Существующие сервисы не понимают казахстанскую кухню и «студенческий» набор продуктов.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89320" y="1920240"/>
            <a:ext cx="914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89320" y="1828800"/>
            <a:ext cx="0" cy="402336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828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22402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Отмечаешь продукты — мгновенно видишь рецепты «можно готовить сейчас».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«Почти готово»: блюда, до которых не хватает 1–2 продуктов, с точным списком покупок.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 установки и без обязательной регистрации — браузер, любой девайс.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Целевая аудитория: студенты и молодые люди CIS, готовящие дома (Assignment 1, UNEP Food Waste Index 2021).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ЭТО РАБОТАЕТ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 шага между «пустым холодильником» и ужином.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48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C6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Отметь продукты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Крупные плитки с мгновенным откликом. Соль, масло и сахар учтены как базовые — их не нужно выбирать.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5112" y="1965960"/>
            <a:ext cx="338328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112" y="2148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C6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325112" y="3154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Увидь подборку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25112" y="36576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Два списка: «можно готовить сейчас» и «почти готово». Кольцо показывает, сколько из нужных продуктов уже есть.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01584" y="1965960"/>
            <a:ext cx="338328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01584" y="2148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C6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101584" y="3154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Приготовь и сохрани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01584" y="36576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Подробные шаги на трёх языках, КБЖУ на порцию. Готовое блюдо — в фото-дневник, видимый сообществу.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ДЕМОНСТРАЦИЯ — ГЛАВНЫЙ СЦЕНАРИЙ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Картошка + лук + яйца → ужин за четыре клика.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132A1C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E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8346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Открыть /kitchen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356616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пикер 51 продукта, 6 категорий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33472" y="2971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43784" y="210312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132A1C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08376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E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008376" y="28346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Отметить 3 продукта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08376" y="356616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матчинг обновляется на лету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28616" y="2971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38928" y="210312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132A1C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E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303520" y="28346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Два списка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303520" y="356616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сейчас: 1 · почти: 14 с чипсами «+»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23760" y="2971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34072" y="210312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132A1C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98664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E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598664" y="28346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Открыть рецепт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98664" y="356616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шаги 01–05, КБЖУ, «чего не хватает»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518904" y="2971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729216" y="2103120"/>
            <a:ext cx="2103120" cy="2286000"/>
          </a:xfrm>
          <a:prstGeom prst="roundRect">
            <a:avLst>
              <a:gd name="adj" fmla="val 3478"/>
            </a:avLst>
          </a:prstGeom>
          <a:solidFill>
            <a:srgbClr val="132A1C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93808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E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893808" y="2834640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Сохранить в дневник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93808" y="356616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A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фото + заметка, лента сообщества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5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Базовые продукты (соль, масло, сахар) считаются всегда доступными — их не выбирают. </a:t>
            </a:r>
            <a:pPr indent="0" marL="0">
              <a:buNone/>
            </a:pPr>
            <a:r>
              <a:rPr lang="en-US" sz="1350" i="1" dirty="0">
                <a:solidFill>
                  <a:srgbClr val="DCE5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Результат проверен вживую: сценарий из Assignment 3 проходит идентично.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АРХИТЕКТУРА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Классический трёхзвенник, знакомый каждому.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F6F1E7"/>
          </a:solidFill>
          <a:ln w="15875">
            <a:solidFill>
              <a:srgbClr val="2C6A44"/>
            </a:solidFill>
            <a:prstDash val="solid"/>
          </a:ln>
          <a:effectLst>
            <a:outerShdw sx="100000" sy="100000" kx="0" ky="0" algn="bl" rotWithShape="0" blurRad="101600" dist="38100" dir="5400000">
              <a:srgbClr val="182B1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Браузер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SPA (Vite)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пикер, матчинг, дневник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13632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480560" y="210312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0D1F15"/>
          </a:solidFill>
          <a:ln w="15875">
            <a:solidFill>
              <a:srgbClr val="2C6A44"/>
            </a:solidFill>
            <a:prstDash val="solid"/>
          </a:ln>
          <a:effectLst>
            <a:outerShdw sx="100000" sy="100000" kx="0" ky="0" algn="bl" rotWithShape="0" blurRad="101600" dist="38100" dir="5400000">
              <a:srgbClr val="182B1F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 API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09160" y="2834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24 · 20+ эндпоинтов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· pantry · diary · recipes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45552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412480" y="210312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1B3B28"/>
          </a:solidFill>
          <a:ln w="15875">
            <a:solidFill>
              <a:srgbClr val="2C6A44"/>
            </a:solidFill>
            <a:prstDash val="solid"/>
          </a:ln>
          <a:effectLst>
            <a:outerShdw sx="100000" sy="100000" kx="0" ky="0" algn="bl" rotWithShape="0" blurRad="101600" dist="38100" dir="5400000">
              <a:srgbClr val="182B1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4108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41080" y="2834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node:sqlite (без нативных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модулей) · 7 таблиц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3434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+ JSON по всей цепочке; в dev-режиме Vite проксирует /api на :3001. 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Хостинг: Railway — один сервис (API + статика SPA + volume для БД); альтернатива Vercel (SPA) + Railway (API) уже поддержана (VITE_API_URL / CORS_ORIGIN).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Почему так: веб — без установки (обосновано в Assignment 1); Node — один язык с фронтом; SQLite — персистентность без сервера БД, замена на PostgreSQL не требует правки роутов (тонкий слой db.js).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БАЗА ДАННЫХ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ER-модель из Assignment 3 — в точности, плюс расширения.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0D1F15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99339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6656" y="2322576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user_id · name · email UQ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password_hash · is_guest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17520" y="1920240"/>
            <a:ext cx="28346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45536" y="199339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ingredients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145536" y="2322576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· name_ru/kk · emoji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· is_staple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8346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199339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recipes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45936" y="2322576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КБЖУ · time · servings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tags · featured · title_ru/kk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418320" y="1920240"/>
            <a:ext cx="2221992" cy="1170432"/>
          </a:xfrm>
          <a:prstGeom prst="roundRect">
            <a:avLst>
              <a:gd name="adj" fmla="val 4688"/>
            </a:avLst>
          </a:prstGeom>
          <a:solidFill>
            <a:srgbClr val="0D1F15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46336" y="199339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instruction_blocks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546336" y="2322576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step_number UNIQUE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 рецепте · description ×3 яз.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73075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user_ingredients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76656" y="4059936"/>
            <a:ext cx="23957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junction: user ↔ ingredient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кладовая пользователя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17520" y="3657600"/>
            <a:ext cx="28346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45536" y="373075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recipe_ingredients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145536" y="4059936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junction: recipe ↔ ingredient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quantity · unit · optional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657600"/>
            <a:ext cx="28346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373075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photo_diary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45936" y="4059936"/>
            <a:ext cx="2578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 (data-URL) · note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uploaded_at · user → recipe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18320" y="3657600"/>
            <a:ext cx="2221992" cy="1170432"/>
          </a:xfrm>
          <a:prstGeom prst="roundRect">
            <a:avLst>
              <a:gd name="adj" fmla="val 4688"/>
            </a:avLst>
          </a:prstGeom>
          <a:solidFill>
            <a:srgbClr val="0D1F15"/>
          </a:solidFill>
          <a:ln w="12700">
            <a:solidFill>
              <a:srgbClr val="2C6A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46336" y="373075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app_meta + reset_tokens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546336" y="4059936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секрет сессий · одноразовые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токены сброса пароля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257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Все связи — по FOREIGN KEY с ON DELETE CASCADE; e-mail уникален; шаги уникальны в рецепте.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Расширения поверх ER (не ломая модель): is_staple, КБЖУ, теги, локализованные колонки title/name/description_ru/kk.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АЛГОРИТМ МАТЧИНГА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Один SQL-запрос с двумя CTE.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0D1F1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E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 =  total − have</a:t>
            </a:r>
            <a:pPr indent="0" marL="0">
              <a:buNone/>
            </a:pPr>
            <a:r>
              <a:rPr lang="en-US" sz="130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total — обязательные (optional=0, is_staple=0) · have — совпавшие с кладовой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1064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355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= 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697480" y="3355848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«Можно готовить сейчас» — всё нужное на кухне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1064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245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1–2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97480" y="4224528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«Почти готово» — точный список покупок чипсами «+»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64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932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48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have ≥ 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5093208"/>
            <a:ext cx="8869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гарантия пересечения: рецепт показывается, только если минимум один его обязательный ингредиент у вас есть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852160"/>
            <a:ext cx="11064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96188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Адаптивность: при выборе 1–2 продуктов порог «почти готово» расширяется — иначе честный запрос «один бекон» показывал пустоту (карбонара не хватает 3). Пример: бекон → «Паста карбонара», кольцо 1/4.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ПРОЕКТ В ЦИФРАХ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 рецептов, 51 ингредиент, 3 языка — всё покрыто.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206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5623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3B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96596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рецептов, 5 кухонь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53512"/>
            <a:ext cx="4206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26664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3B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965960" y="3273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ингредиент — 0 «мёртвых»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23944"/>
            <a:ext cx="4206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97096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3B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965960" y="4443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языка интерфейса и шагов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294376"/>
            <a:ext cx="4206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3675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3B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1965960" y="56144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мин — среднее время рецепта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120640" y="178308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5120640" y="6126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MealMate SQLite, таблица recipes (30.10.2026). Каждый рецепт — с КБЖУ и шагами на EN/РУ/ҚАЗ.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ТРЕБОВАНИЯ ЗАДАНИЯ — ЗАКРЫТЫ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 языка и cybersecurity — не «потом», а сейчас.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ЛОКАЛИЗАЦИЯ EN · РУ · ҚАЗ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89320" y="1828800"/>
            <a:ext cx="0" cy="393192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40280"/>
            <a:ext cx="5394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Переключатель в хедере, автодетект языка браузера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Контент в БД: title/name/description_ru/kk, шаги на трёх языках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Поиск работает и по русским, и по казахским названиям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Единицы и фразы локализованы («щепотка», «ас қасық»)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46520" y="1828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CYBERSECURITY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46520" y="224028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scrypt + соль для паролей, timing-safe сравнение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HMAC-SHA256 httpOnly-куки, гостевые аккаунты с апгрейдом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helmet · rate-limit · лимиты тела запроса · валидация входа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Только параметризованный SQL; фото — data-URL ≤ 3 МБ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Плюс: восстановление пароля по одноразовому токену (30 мин, хэш в БД) и приватность гостевых записей в дневнике.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ТЕСТИРОВАНИЕ → УЛУЧШЕНИЯ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Каждая находка юзер-тестов стала правкой. Проверено вживую.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5486400"/>
                <a:gridCol w="1554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Находка тестов (A2)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Правка в финале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Статус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«Не понимаю, как выбрать продукты»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чипы с мгновенным состоянием + поиск + быстрые наборы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C6A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IMPLEMENTED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«Нет явного финиша»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липкая панель «8 выбрано → Show matches», тосты-подтверждения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C6A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IMPLEMENTED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«Не найти кнопку назад»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липкий хедер + подписанные back-ссылки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C6A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IMPLEMENTED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Бекон без рецептов (A4, 2 из 51 = 3.9% «мёртвых»)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+10 рецептов точечно в пробелы → 0 «мёртвых»; адаптивный порог матчинга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C6A44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IMPLEMENTED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73152" marB="73152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Assignment 4 (индивидуально): аудит покрытия ингредиентов — 51 наблюдение из БД, 2 расчёта, график; до/после: «мёртвых» ингредиентов 2 → 0 (см. docs/Assignment4-*.xlsx).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ДАЛЬШЕ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Готово к защите. Готово к деплою.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DCE5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Railway: постоянная публичная ссылка (volume для БД) — инструкция в README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DCE5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Coverage-отчёт для админа: мёртвые ингредиенты ловятся при добавлении рецептов</a:t>
            </a:r>
            <a:endParaRPr lang="en-US" sz="1500" dirty="0"/>
          </a:p>
          <a:p>
            <a:pPr marL="152400" indent="-1524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DCE5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и PWA-офлайн — при росте базы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9E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 сейчас: localhost:3001 · docs/DEFENSE.md — ответы на вопросы комиссии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CS-2618 · Samarin · Kaniyazov · Sadybek · Temirtas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MealMate — защита проекта</dc:title>
  <dc:subject>PptxGenJS Presentation</dc:subject>
  <dc:creator>CS-2618 MealMate</dc:creator>
  <cp:lastModifiedBy>CS-2618 MealMate</cp:lastModifiedBy>
  <cp:revision>1</cp:revision>
  <dcterms:created xsi:type="dcterms:W3CDTF">2026-10-29T22:57:14Z</dcterms:created>
  <dcterms:modified xsi:type="dcterms:W3CDTF">2026-10-29T22:57:14Z</dcterms:modified>
</cp:coreProperties>
</file>