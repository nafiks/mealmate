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app is deployed and reachable — open the URL any time during the defense. Everything shown today runs on this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85432" y="0"/>
            <a:ext cx="5303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85432" y="0"/>
            <a:ext cx="5303520" cy="6858000"/>
          </a:xfrm>
          <a:prstGeom prst="rect">
            <a:avLst/>
          </a:prstGeom>
          <a:solidFill>
            <a:srgbClr val="0D1F15">
              <a:alpha val="3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02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🍳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12064" y="169164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Meal</a:t>
            </a:r>
            <a:pPr indent="0" marL="0">
              <a:buNone/>
            </a:pPr>
            <a:r>
              <a:rPr lang="en-US" sz="6200" b="1" i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</a:t>
            </a:r>
            <a:pPr indent="0" marL="0">
              <a:buNone/>
            </a:pPr>
            <a:r>
              <a:rPr lang="en-US" sz="62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548640" y="30632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FE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End-term defense — practical results from Weeks 6–9: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4747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Systems · Cybersecurity · Multimedia Technologies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https://mealmate-29tt.onrender.com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983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CS-2618 · Samarin · Kaniyazov · Sadybek · Temirtas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PROJECT IN ONE MINUTE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web app that matches recipes to the food you already own.</a:t>
            </a:r>
            <a:endParaRPr lang="en-US" sz="2800" dirty="0"/>
          </a:p>
        </p:txBody>
      </p:sp>
      <p:pic>
        <p:nvPicPr>
          <p:cNvPr id="4" name="Image 0" descr="shots/kitch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675120" cy="416052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82B1F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48640" y="60350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Live: the ingredient picker with an instant match list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7589520" y="18745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732520" y="198424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recipes across 5 cuisines — 14 Kazakh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0" y="29260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732520" y="303580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picker ingredients, every one covered by a recipe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589520" y="39776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B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8732520" y="408736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languages: EN / RU / KK — UI, content and cooking steps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89520" y="5120640"/>
            <a:ext cx="402336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52578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Stack: React 18 → Express (Node 24) → SQLite. Deployed on Render, source on GitHub.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DATABASE SYSTEMS — ER DIAGRAM (1 OF 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core entities, PK/FK on every table, verbs on relationships.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0D1F15"/>
          </a:solidFill>
          <a:ln w="15875">
            <a:solidFill>
              <a:srgbClr val="2C6A44"/>
            </a:solidFill>
            <a:prstDash val="solid"/>
          </a:ln>
          <a:effectLst>
            <a:outerShdw sx="100000" sy="100000" kx="0" ky="0" algn="bl" rotWithShape="0" blurRad="76200" dist="25400" dir="5400000">
              <a:srgbClr val="182B1F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73736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203911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user_id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· email UQ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password_hash · is_guest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2C6A44"/>
            </a:solidFill>
            <a:prstDash val="solid"/>
          </a:ln>
          <a:effectLst>
            <a:outerShdw sx="100000" sy="100000" kx="0" ky="0" algn="bl" rotWithShape="0" blurRad="76200" dist="25400" dir="5400000">
              <a:srgbClr val="182B1F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41148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user_ingredients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441655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user_id + ingredient_id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→ users, ingredients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169164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2C6A44"/>
            </a:solidFill>
            <a:prstDash val="solid"/>
          </a:ln>
          <a:effectLst>
            <a:outerShdw sx="100000" sy="100000" kx="0" ky="0" algn="bl" rotWithShape="0" blurRad="76200" dist="25400" dir="5400000">
              <a:srgbClr val="182B1F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90088" y="173736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ingredients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0088" y="203911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ingredient_id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· name_ru/kk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· is_staple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880360" y="406908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2C6A44"/>
            </a:solidFill>
            <a:prstDash val="solid"/>
          </a:ln>
          <a:effectLst>
            <a:outerShdw sx="100000" sy="100000" kx="0" ky="0" algn="bl" rotWithShape="0" blurRad="76200" dist="25400" dir="5400000">
              <a:srgbClr val="182B1F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90088" y="41148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recipe_ingredients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0088" y="441655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recipe_id + ingredient_id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quantity · unit · optional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169164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0D1F15"/>
          </a:solidFill>
          <a:ln w="15875">
            <a:solidFill>
              <a:srgbClr val="2C6A44"/>
            </a:solidFill>
            <a:prstDash val="solid"/>
          </a:ln>
          <a:effectLst>
            <a:outerShdw sx="100000" sy="100000" kx="0" ky="0" algn="bl" rotWithShape="0" blurRad="76200" dist="25400" dir="5400000">
              <a:srgbClr val="182B1F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70448" y="173736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70448" y="203911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recipe_id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КБЖУ · time · cuisine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tags · image · title_ru/kk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60720" y="406908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2C6A44"/>
            </a:solidFill>
            <a:prstDash val="solid"/>
          </a:ln>
          <a:effectLst>
            <a:outerShdw sx="100000" sy="100000" kx="0" ky="0" algn="bl" rotWithShape="0" blurRad="76200" dist="25400" dir="5400000">
              <a:srgbClr val="182B1F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70448" y="41148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instruction_blocks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70448" y="441655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instruction_id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recipe_id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step_number UQ · descr ×3 lang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641080" y="169164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2C6A44"/>
            </a:solidFill>
            <a:prstDash val="solid"/>
          </a:ln>
          <a:effectLst>
            <a:outerShdw sx="100000" sy="100000" kx="0" ky="0" algn="bl" rotWithShape="0" blurRad="76200" dist="25400" dir="5400000">
              <a:srgbClr val="182B1F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50808" y="173736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photo_diary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50808" y="203911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photo_id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user_id, recipe_id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· note · uploaded_at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641080" y="406908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0D1F15"/>
          </a:solidFill>
          <a:ln w="15875">
            <a:solidFill>
              <a:srgbClr val="2C6A44"/>
            </a:solidFill>
            <a:prstDash val="solid"/>
          </a:ln>
          <a:effectLst>
            <a:outerShdw sx="100000" sy="100000" kx="0" ky="0" algn="bl" rotWithShape="0" blurRad="76200" dist="25400" dir="5400000">
              <a:srgbClr val="182B1F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50808" y="4114800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reset_tokens + app_meta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50808" y="4416552"/>
            <a:ext cx="21122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token id · FK user_id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hash · 30 min TTL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34440" y="3401568"/>
            <a:ext cx="502920" cy="0"/>
          </a:xfrm>
          <a:prstGeom prst="line">
            <a:avLst/>
          </a:prstGeom>
          <a:noFill/>
          <a:ln w="22225">
            <a:solidFill>
              <a:srgbClr val="2C6A44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234440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: 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828800" y="3931920"/>
            <a:ext cx="822960" cy="0"/>
          </a:xfrm>
          <a:prstGeom prst="line">
            <a:avLst/>
          </a:prstGeom>
          <a:noFill/>
          <a:ln w="22225">
            <a:solidFill>
              <a:srgbClr val="2C6A44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828800" y="36210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584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ticks ingredient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77640" y="3401568"/>
            <a:ext cx="502920" cy="0"/>
          </a:xfrm>
          <a:prstGeom prst="line">
            <a:avLst/>
          </a:prstGeom>
          <a:noFill/>
          <a:ln w="22225">
            <a:solidFill>
              <a:srgbClr val="2C6A44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3977640" y="30906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: 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9080" y="3931920"/>
            <a:ext cx="914400" cy="0"/>
          </a:xfrm>
          <a:prstGeom prst="line">
            <a:avLst/>
          </a:prstGeom>
          <a:noFill/>
          <a:ln w="22225">
            <a:solidFill>
              <a:srgbClr val="2C6A44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4069080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017520" y="4041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 lists ingredient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57800" y="2286000"/>
            <a:ext cx="457200" cy="0"/>
          </a:xfrm>
          <a:prstGeom prst="line">
            <a:avLst/>
          </a:prstGeom>
          <a:noFill/>
          <a:ln w="22225">
            <a:solidFill>
              <a:srgbClr val="2C6A44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5257800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: 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257800" y="2788920"/>
            <a:ext cx="457200" cy="0"/>
          </a:xfrm>
          <a:prstGeom prst="line">
            <a:avLst/>
          </a:prstGeom>
          <a:noFill/>
          <a:ln w="22225">
            <a:solidFill>
              <a:srgbClr val="2C6A44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257800" y="24780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09160" y="2724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 contains ingredient (M:N via junctions)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138160" y="2286000"/>
            <a:ext cx="457200" cy="0"/>
          </a:xfrm>
          <a:prstGeom prst="line">
            <a:avLst/>
          </a:prstGeom>
          <a:noFill/>
          <a:ln w="22225">
            <a:solidFill>
              <a:srgbClr val="2C6A44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8138160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: M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138160" y="4617720"/>
            <a:ext cx="457200" cy="0"/>
          </a:xfrm>
          <a:prstGeom prst="line">
            <a:avLst/>
          </a:prstGeom>
          <a:noFill/>
          <a:ln w="22225">
            <a:solidFill>
              <a:srgbClr val="2C6A44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8138160" y="43068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001000" y="3063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 splits into steps (1 : M)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01000" y="53949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uploads photo (1 : M)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M:N resolved with junction tables; </a:t>
            </a:r>
            <a:pPr indent="0" marL="0">
              <a:buNone/>
            </a:pPr>
            <a:r>
              <a:rPr lang="en-US" sz="1200" b="1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editable source: docs/er-diagram.dbml → paste at dbdiagram.io during the defense.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rules: unique e-mail · step numbers unique within a recipe · FK ON DELETE CASCADE.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DATABASE SYSTEMS — DESIGN DECISIONS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the live challenge: change one thing, explain everything.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928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is_staple flag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063240" y="1892808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salt, oil, sugar are assumed available — the matcher never counts them as missing. Change during defense: flip it and «Almost there» grows by hundreds of rows.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i18n columns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063240" y="2926080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title_ru/kk, description_ru/kk on recipes; name_ru/kk on ingredients; localized steps. The API picks the column with ?lang= and falls back to English.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9624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593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Junction extras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063240" y="3959352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recipe_ingredients carries quantity, unit, optional — so the UI shows «600 g» and skips optional items when matching.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82896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99262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Indexes &amp; integrity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063240" y="4992624"/>
            <a:ext cx="8549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FK ON DELETE CASCADE everywhere; indexes on junctions and diary(user_id); UNIQUE email and (recipe_id, step_number).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60533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 query runs in SQL (two CTEs): missing = total − have per recipe, have ≥ 1 guarantees relevance — verified against the live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· CYBERSECURITY — SECURITY RISK 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realistic risks — each closed by a measure that is actually in the code.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566160"/>
                <a:gridCol w="4206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Consequence for users / data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Protection (implemented)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1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Brute-force password attacks on /login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takeover; personal diary exposed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Per-IP rate limit 40 req/10 min on auth; scrypt hashing makes offline cracking slow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SQL injection via search and filters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database dump or destruction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Parameterized queries only (node:sqlite) — zero string concatenation in SQL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XSS through diary notes and names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Script runs in other users' browsers, sessions stolen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auto-escaping + strict server-side validation (type, length, MIME whitelist)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Session hijacking / cookie theft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Attacker acts as the victim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httpOnly + SameSite cookie, HMAC-SHA256 signature — unreadable and unforgable in JS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D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82B1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Oversized image uploads (DoS)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Disk and memory exhausted, service down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556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MB body limit, browser-side canvas compression to JPEG ≤ ~3 MB, MIME check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9728" marR="109728" marT="64008" marB="64008" anchor="ctr">
                    <a:lnL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Also: security headers (helmet), one-time hashed password-reset tokens (30 min TTL), guest diary writes rejected with 401 at API level.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· CYBERSECURITY — SAFE SCENARIO (CONTROLLED SIMULATION)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Threat: an attacker brute-forces the login. Watch the protection respond.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D9482B"/>
          </a:solidFill>
          <a:ln w="15875">
            <a:solidFill>
              <a:srgbClr val="2C6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Attacker script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3127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POST /api/auth/login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tried passwords: qwerty, 123456, 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36392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92424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0D1F15"/>
          </a:solidFill>
          <a:ln w="15875">
            <a:solidFill>
              <a:srgbClr val="2C6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57016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MealMate API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57016" y="3127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verifyPassword fails →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attempt is counted per IP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0176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36208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B3B28"/>
          </a:solidFill>
          <a:ln w="15875">
            <a:solidFill>
              <a:srgbClr val="2C6A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E2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limiter trips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3127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41st request within 10 min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HTTP 429 Too Many Requests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23960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79992" y="19659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2C6A44"/>
          </a:solidFill>
          <a:ln w="15875">
            <a:solidFill>
              <a:srgbClr val="2C6A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4584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6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44584" y="25786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stays safe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44584" y="312724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scrypt hash never leaves;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4D2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cookie never issued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82B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path: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45 rapid wrong logins from the demo script → the 41st receives 429 and the rate bucket resets after 10 minutes. The same limiter protects diary uploads (20 / 10 min).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scenario is safe: it runs against our own local deployment with a test account — no real third-party systems are touched.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9893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0D1F1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9893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 hardening: scrypt makes each guess cost ~100 ms of CPU — brute-forcing a 8-char password becomes computationally absurd even offline.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· MULTIMEDIA TECHNOLOGIES — PRODUCT PROMO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60-second promo, built by the team from real product footage.</a:t>
            </a:r>
            <a:endParaRPr lang="en-US" sz="2600" dirty="0"/>
          </a:p>
        </p:txBody>
      </p:sp>
      <p:pic>
        <p:nvPicPr>
          <p:cNvPr id="4" name="Image 0" descr="shots/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6720840" cy="39776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82B1F">
                <a:alpha val="2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560320" y="310896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0D1F15">
              <a:alpha val="88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788920" y="31089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E265"/>
                </a:solidFill>
              </a:rPr>
              <a:t>▶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MealMate-promo.mp4</a:t>
            </a:r>
            <a:endParaRPr lang="en-US" sz="240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 s · 1280×720 · MP4 (H.264 + AAC)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5870448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 from the promo — animated title over a live home-screen capture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8952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6A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 MULTIMEDIA ELEMENTS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89520" y="2240280"/>
            <a:ext cx="402336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22951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Animation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89520" y="258775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Ken Burns zooms, fade-ups, animated underline — rendered frame by frame (1440 frames)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0" y="3172968"/>
            <a:ext cx="402336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89520" y="3227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&amp; graphics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89520" y="35204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kinetic titles, brand palette, stat captions, accent shapes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589520" y="4105656"/>
            <a:ext cx="402336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8952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89520" y="445312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screen captures of the deployed product (home, matching, recipe, community)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589520" y="5038344"/>
            <a:ext cx="4023360" cy="0"/>
          </a:xfrm>
          <a:prstGeom prst="line">
            <a:avLst/>
          </a:prstGeom>
          <a:noFill/>
          <a:ln w="12700">
            <a:solidFill>
              <a:srgbClr val="D9D2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5093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B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589520" y="538581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556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original synthesized chord pad — composed in code, no stock audio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3550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Play: </a:t>
            </a:r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7E89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docs/MealMate-promo.mp4 (also at github.com/nafiks/mealmate → docs). Formats: H.264 video + AAC audio in MP4 — plays everywhere; PNG frames; WAV intermediate audio. Original elements: screen recordings and the synthesized soundtrack are team-created.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INDIVIDUAL DEFENSE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member owns a layer — ask us anything.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299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Artur — Lead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520440" y="2029968"/>
            <a:ext cx="8092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→ solution reasoning, user research, feature priorities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90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 — 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20440" y="2990088"/>
            <a:ext cx="8092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system, picker &amp; matching UI, i18n, rendering pipeline, this deck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502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Adilet — Database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3950208"/>
            <a:ext cx="8092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 model, SQL matching CTEs, integrity, coverage audit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910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Sanzhar — 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20440" y="4910328"/>
            <a:ext cx="8092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5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API, auth &amp; security, seed content, deployment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11064240" cy="0"/>
          </a:xfrm>
          <a:prstGeom prst="line">
            <a:avLst/>
          </a:prstGeom>
          <a:noFill/>
          <a:ln w="12700">
            <a:solidFill>
              <a:srgbClr val="2C6A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app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https://mealmate-29tt.onrender.com      </a:t>
            </a:r>
            <a:pPr indent="0" marL="0">
              <a:buNone/>
            </a:pPr>
            <a:r>
              <a:rPr lang="en-US" sz="1350" b="1" dirty="0">
                <a:solidFill>
                  <a:srgbClr val="C9E26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github.com/nafiks/mealmate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08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disclosure: AI assisted code generation and deck design; every mechanism shown is deployed, verified and explained by the team.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MealMate — End-term defense</dc:title>
  <dc:subject>PptxGenJS Presentation</dc:subject>
  <dc:creator>CS-2618 MealMate</dc:creator>
  <cp:lastModifiedBy>CS-2618 MealMate</cp:lastModifiedBy>
  <cp:revision>1</cp:revision>
  <dcterms:created xsi:type="dcterms:W3CDTF">2026-10-31T13:16:41Z</dcterms:created>
  <dcterms:modified xsi:type="dcterms:W3CDTF">2026-10-31T13:16:41Z</dcterms:modified>
</cp:coreProperties>
</file>